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.png"/><Relationship Id="rId7" Type="http://schemas.openxmlformats.org/officeDocument/2006/relationships/image" Target="../media/image8.jpe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3.sv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.png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image" Target="../media/image16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2.jpe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5.sv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1.png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image" Target="../media/image28.sv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34.sv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.png"/><Relationship Id="rId10" Type="http://schemas.openxmlformats.org/officeDocument/2006/relationships/image" Target="../media/image40.svg"/><Relationship Id="rId1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ESP32-S3</a:t>
            </a:r>
            <a:r>
              <a:rPr lang="zh-CN" altLang="en-US"/>
              <a:t>开发教程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中北大学</a:t>
            </a:r>
            <a:r>
              <a:rPr lang="en-US" altLang="zh-CN"/>
              <a:t>AI</a:t>
            </a:r>
            <a:r>
              <a:rPr lang="zh-CN" altLang="en-US"/>
              <a:t>融创创新</a:t>
            </a:r>
            <a:r>
              <a:rPr lang="zh-CN" altLang="en-US"/>
              <a:t>实验室</a:t>
            </a:r>
            <a:endParaRPr lang="zh-CN" altLang="en-US"/>
          </a:p>
        </p:txBody>
      </p:sp>
      <p:pic>
        <p:nvPicPr>
          <p:cNvPr id="4" name="图片 3" descr="使用工具生成图片 (7)"/>
          <p:cNvPicPr>
            <a:picLocks noChangeAspect="1"/>
          </p:cNvPicPr>
          <p:nvPr/>
        </p:nvPicPr>
        <p:blipFill>
          <a:blip r:embed="rId1"/>
          <a:srcRect l="10453" t="26916" r="9233" b="19599"/>
          <a:stretch>
            <a:fillRect/>
          </a:stretch>
        </p:blipFill>
        <p:spPr>
          <a:xfrm>
            <a:off x="9458960" y="10033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ESP32-S3简介</a:t>
            </a:r>
            <a:endParaRPr lang="en-US" sz="3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4"/>
          <p:cNvSpPr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什么是ESP32-S3？</a:t>
            </a:r>
            <a:endParaRPr lang="en-US" sz="1100"/>
          </a:p>
        </p:txBody>
      </p:sp>
      <p:sp>
        <p:nvSpPr>
          <p:cNvPr id="7" name="AutoShape 5"/>
          <p:cNvSpPr/>
          <p:nvPr/>
        </p:nvSpPr>
        <p:spPr>
          <a:xfrm>
            <a:off x="762000" y="1981200"/>
            <a:ext cx="508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乐鑫（Espressif）推出的高性能、低功耗物联网微控制器，专为物联网、智能家居、可穿戴设备等场景设计。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6"/>
          <p:cNvSpPr/>
          <p:nvPr/>
        </p:nvSpPr>
        <p:spPr>
          <a:xfrm>
            <a:off x="762000" y="28448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</a:t>
            </a:r>
            <a:endParaRPr lang="en-US" sz="1100"/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3403600"/>
            <a:ext cx="304800" cy="304800"/>
          </a:xfrm>
          <a:prstGeom prst="rect">
            <a:avLst/>
          </a:prstGeom>
        </p:spPr>
      </p:pic>
      <p:sp>
        <p:nvSpPr>
          <p:cNvPr id="10" name="AutoShape 8"/>
          <p:cNvSpPr/>
          <p:nvPr/>
        </p:nvSpPr>
        <p:spPr>
          <a:xfrm>
            <a:off x="1219200" y="3403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强大的双核处理器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9"/>
          <p:cNvSpPr/>
          <p:nvPr/>
        </p:nvSpPr>
        <p:spPr>
          <a:xfrm>
            <a:off x="1219200" y="37592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搭载 Xtensa® LX7 双核处理器，性能强劲。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4318000"/>
            <a:ext cx="304800" cy="304800"/>
          </a:xfrm>
          <a:prstGeom prst="rect">
            <a:avLst/>
          </a:prstGeom>
        </p:spPr>
      </p:pic>
      <p:sp>
        <p:nvSpPr>
          <p:cNvPr id="13" name="AutoShape 11"/>
          <p:cNvSpPr/>
          <p:nvPr/>
        </p:nvSpPr>
        <p:spPr>
          <a:xfrm>
            <a:off x="1219200" y="4318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丰富的外设接口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2"/>
          <p:cNvSpPr/>
          <p:nvPr/>
        </p:nvSpPr>
        <p:spPr>
          <a:xfrm>
            <a:off x="1219200" y="46736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支持多种通信协议，连接更多可能。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5232400"/>
            <a:ext cx="304800" cy="304800"/>
          </a:xfrm>
          <a:prstGeom prst="rect">
            <a:avLst/>
          </a:prstGeom>
        </p:spPr>
      </p:pic>
      <p:sp>
        <p:nvSpPr>
          <p:cNvPr id="16" name="AutoShape 14"/>
          <p:cNvSpPr/>
          <p:nvPr/>
        </p:nvSpPr>
        <p:spPr>
          <a:xfrm>
            <a:off x="1219200" y="5232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低功耗设计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5"/>
          <p:cNvSpPr/>
          <p:nvPr/>
        </p:nvSpPr>
        <p:spPr>
          <a:xfrm>
            <a:off x="1219200" y="55880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延长设备续航，满足各类低功耗场景需求。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6"/>
          <p:cNvCxnSpPr/>
          <p:nvPr/>
        </p:nvCxnSpPr>
        <p:spPr>
          <a:xfrm rot="5389889">
            <a:off x="3937000" y="3676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9" name="Picture 17"/>
          <p:cNvPicPr>
            <a:picLocks noChangeAspect="1"/>
          </p:cNvPicPr>
          <p:nvPr/>
        </p:nvPicPr>
        <p:blipFill>
          <a:blip r:embed="rId7"/>
          <a:srcRect t="16710" b="16710"/>
          <a:stretch>
            <a:fillRect/>
          </a:stretch>
        </p:blipFill>
        <p:spPr>
          <a:xfrm>
            <a:off x="6604000" y="1905000"/>
            <a:ext cx="4826000" cy="3213100"/>
          </a:xfrm>
          <a:prstGeom prst="roundRect">
            <a:avLst>
              <a:gd name="adj" fmla="val 4743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20" name="AutoShape 18"/>
          <p:cNvSpPr/>
          <p:nvPr/>
        </p:nvSpPr>
        <p:spPr>
          <a:xfrm>
            <a:off x="6604000" y="5270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ESP32-S3 开发板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" name="图片 1" descr="使用工具生成图片 (7)"/>
          <p:cNvPicPr>
            <a:picLocks noChangeAspect="1"/>
          </p:cNvPicPr>
          <p:nvPr/>
        </p:nvPicPr>
        <p:blipFill>
          <a:blip r:embed="rId8"/>
          <a:srcRect l="10453" t="26916" r="9233" b="19599"/>
          <a:stretch>
            <a:fillRect/>
          </a:stretch>
        </p:blipFill>
        <p:spPr>
          <a:xfrm>
            <a:off x="9458960" y="10033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4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核心特性 - 处理器与内存</a:t>
            </a:r>
            <a:endParaRPr lang="en-US" sz="3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处理器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41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4257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双核 Xtensa® 32 位 LX7 CPU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70000" y="28067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高性能架构，支持并行处理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429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34417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主频最高可达 240MHz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270000" y="38227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提供强大的实时数据处理能力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445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70000" y="44577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支持整数和浮点运算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270000" y="48387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满足复杂算法的计算需求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87722">
            <a:off x="4318000" y="3549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内存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2413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24257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 512KB SRAM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112000" y="28067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高速缓存，保障指令快速执行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429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34417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支持外接 PSRAM，最大 8MB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112000" y="38227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灵活扩展，满足大容量数据存储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4445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44577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满足复杂应用程序需求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7112000" y="4838700"/>
            <a:ext cx="457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轻松运行 AI 模型与多媒体应用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图片 26" descr="使用工具生成图片 (7)"/>
          <p:cNvPicPr>
            <a:picLocks noChangeAspect="1"/>
          </p:cNvPicPr>
          <p:nvPr/>
        </p:nvPicPr>
        <p:blipFill>
          <a:blip r:embed="rId13"/>
          <a:srcRect l="10453" t="26916" r="9233" b="19599"/>
          <a:stretch>
            <a:fillRect/>
          </a:stretch>
        </p:blipFill>
        <p:spPr>
          <a:xfrm>
            <a:off x="9458960" y="10033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核心特性 - 无线通信</a:t>
            </a:r>
            <a:endParaRPr lang="en-US" sz="3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3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9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4"/>
          <p:cNvSpPr/>
          <p:nvPr/>
        </p:nvSpPr>
        <p:spPr>
          <a:xfrm>
            <a:off x="762000" y="1651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Wi-Fi 连接</a:t>
            </a:r>
            <a:endParaRPr lang="en-US" sz="1100"/>
          </a:p>
        </p:txBody>
      </p:sp>
      <p:pic>
        <p:nvPicPr>
          <p:cNvPr id="26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2286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3429000"/>
            <a:ext cx="254000" cy="254000"/>
          </a:xfrm>
          <a:prstGeom prst="rect">
            <a:avLst/>
          </a:prstGeom>
        </p:spPr>
      </p:pic>
      <p:sp>
        <p:nvSpPr>
          <p:cNvPr id="28" name="AutoShape 7"/>
          <p:cNvSpPr/>
          <p:nvPr/>
        </p:nvSpPr>
        <p:spPr>
          <a:xfrm>
            <a:off x="1168400" y="3429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2.4GHz Wi-Fi (802.11b/g/n)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4064000"/>
            <a:ext cx="254000" cy="254000"/>
          </a:xfrm>
          <a:prstGeom prst="rect">
            <a:avLst/>
          </a:prstGeom>
        </p:spPr>
      </p:pic>
      <p:sp>
        <p:nvSpPr>
          <p:cNvPr id="30" name="AutoShape 9"/>
          <p:cNvSpPr/>
          <p:nvPr/>
        </p:nvSpPr>
        <p:spPr>
          <a:xfrm>
            <a:off x="1168400" y="4064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Station 和 SoftAP 模式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4699000"/>
            <a:ext cx="254000" cy="254000"/>
          </a:xfrm>
          <a:prstGeom prst="rect">
            <a:avLst/>
          </a:prstGeom>
        </p:spPr>
      </p:pic>
      <p:sp>
        <p:nvSpPr>
          <p:cNvPr id="32" name="AutoShape 11"/>
          <p:cNvSpPr/>
          <p:nvPr/>
        </p:nvSpPr>
        <p:spPr>
          <a:xfrm>
            <a:off x="1168400" y="4699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数据传输速率高，覆盖范围广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3" name="Connector 12"/>
          <p:cNvCxnSpPr/>
          <p:nvPr/>
        </p:nvCxnSpPr>
        <p:spPr>
          <a:xfrm rot="5388145">
            <a:off x="4254500" y="3486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9B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13"/>
          <p:cNvSpPr/>
          <p:nvPr/>
        </p:nvSpPr>
        <p:spPr>
          <a:xfrm>
            <a:off x="6604000" y="1651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蓝牙连接</a:t>
            </a:r>
            <a:endParaRPr lang="en-US" sz="1100"/>
          </a:p>
        </p:txBody>
      </p:sp>
      <p:pic>
        <p:nvPicPr>
          <p:cNvPr id="35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04000" y="2286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3429000"/>
            <a:ext cx="254000" cy="254000"/>
          </a:xfrm>
          <a:prstGeom prst="rect">
            <a:avLst/>
          </a:prstGeom>
        </p:spPr>
      </p:pic>
      <p:sp>
        <p:nvSpPr>
          <p:cNvPr id="37" name="AutoShape 16"/>
          <p:cNvSpPr/>
          <p:nvPr/>
        </p:nvSpPr>
        <p:spPr>
          <a:xfrm>
            <a:off x="7010400" y="3429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BLE 5.0，通信距离更远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4064000"/>
            <a:ext cx="254000" cy="254000"/>
          </a:xfrm>
          <a:prstGeom prst="rect">
            <a:avLst/>
          </a:prstGeom>
        </p:spPr>
      </p:pic>
      <p:sp>
        <p:nvSpPr>
          <p:cNvPr id="39" name="AutoShape 18"/>
          <p:cNvSpPr/>
          <p:nvPr/>
        </p:nvSpPr>
        <p:spPr>
          <a:xfrm>
            <a:off x="7010400" y="4064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支持蓝牙 Mesh 网络，实现设备互联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4699000"/>
            <a:ext cx="254000" cy="254000"/>
          </a:xfrm>
          <a:prstGeom prst="rect">
            <a:avLst/>
          </a:prstGeom>
        </p:spPr>
      </p:pic>
      <p:sp>
        <p:nvSpPr>
          <p:cNvPr id="41" name="AutoShape 20"/>
          <p:cNvSpPr/>
          <p:nvPr/>
        </p:nvSpPr>
        <p:spPr>
          <a:xfrm>
            <a:off x="7010400" y="4699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低功耗设计，适合电池供电设备</a:t>
            </a:r>
            <a:endParaRPr lang="en-US" sz="15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2" name="图片 41" descr="使用工具生成图片 (7)"/>
          <p:cNvPicPr>
            <a:picLocks noChangeAspect="1"/>
          </p:cNvPicPr>
          <p:nvPr/>
        </p:nvPicPr>
        <p:blipFill>
          <a:blip r:embed="rId5"/>
          <a:srcRect l="10453" t="26916" r="9233" b="19599"/>
          <a:stretch>
            <a:fillRect/>
          </a:stretch>
        </p:blipFill>
        <p:spPr>
          <a:xfrm>
            <a:off x="9458960" y="10033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核心特性 - 外设接口</a:t>
            </a:r>
            <a:endParaRPr lang="en-US" sz="3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9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5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通用接口</a:t>
            </a:r>
            <a:endParaRPr lang="en-US" sz="11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286000"/>
            <a:ext cx="304800" cy="304800"/>
          </a:xfrm>
          <a:prstGeom prst="rect">
            <a:avLst/>
          </a:prstGeom>
        </p:spPr>
      </p:pic>
      <p:sp>
        <p:nvSpPr>
          <p:cNvPr id="8" name="AutoShape 7"/>
          <p:cNvSpPr/>
          <p:nvPr/>
        </p:nvSpPr>
        <p:spPr>
          <a:xfrm>
            <a:off x="1270000" y="2286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45 个可编程 GPIO 引脚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8"/>
          <p:cNvSpPr/>
          <p:nvPr/>
        </p:nvSpPr>
        <p:spPr>
          <a:xfrm>
            <a:off x="1270000" y="26670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灵活配置，满足多样化连接需求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 rot="-8594">
            <a:off x="762008" y="3168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479800"/>
            <a:ext cx="304800" cy="304800"/>
          </a:xfrm>
          <a:prstGeom prst="rect">
            <a:avLst/>
          </a:prstGeom>
        </p:spPr>
      </p:pic>
      <p:sp>
        <p:nvSpPr>
          <p:cNvPr id="12" name="AutoShape 11"/>
          <p:cNvSpPr/>
          <p:nvPr/>
        </p:nvSpPr>
        <p:spPr>
          <a:xfrm>
            <a:off x="1270000" y="34798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多种通信协议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3987800"/>
            <a:ext cx="203200" cy="203200"/>
          </a:xfrm>
          <a:prstGeom prst="rect">
            <a:avLst/>
          </a:prstGeom>
        </p:spPr>
      </p:pic>
      <p:sp>
        <p:nvSpPr>
          <p:cNvPr id="14" name="AutoShape 13"/>
          <p:cNvSpPr/>
          <p:nvPr/>
        </p:nvSpPr>
        <p:spPr>
          <a:xfrm>
            <a:off x="1574800" y="39878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ADC (模数转换)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495800"/>
            <a:ext cx="203200" cy="203200"/>
          </a:xfrm>
          <a:prstGeom prst="rect">
            <a:avLst/>
          </a:prstGeom>
        </p:spPr>
      </p:pic>
      <p:sp>
        <p:nvSpPr>
          <p:cNvPr id="16" name="AutoShape 15"/>
          <p:cNvSpPr/>
          <p:nvPr/>
        </p:nvSpPr>
        <p:spPr>
          <a:xfrm>
            <a:off x="1574800" y="44958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SPI (串行外设接口)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5003800"/>
            <a:ext cx="203200" cy="203200"/>
          </a:xfrm>
          <a:prstGeom prst="rect">
            <a:avLst/>
          </a:prstGeom>
        </p:spPr>
      </p:pic>
      <p:sp>
        <p:nvSpPr>
          <p:cNvPr id="18" name="AutoShape 17"/>
          <p:cNvSpPr/>
          <p:nvPr/>
        </p:nvSpPr>
        <p:spPr>
          <a:xfrm>
            <a:off x="1574800" y="50038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I2C (集成电路总线)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0" y="3987800"/>
            <a:ext cx="203200" cy="203200"/>
          </a:xfrm>
          <a:prstGeom prst="rect">
            <a:avLst/>
          </a:prstGeom>
        </p:spPr>
      </p:pic>
      <p:sp>
        <p:nvSpPr>
          <p:cNvPr id="20" name="AutoShape 19"/>
          <p:cNvSpPr/>
          <p:nvPr/>
        </p:nvSpPr>
        <p:spPr>
          <a:xfrm>
            <a:off x="3860800" y="39878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UART (通用异步收发)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0" y="4495800"/>
            <a:ext cx="203200" cy="203200"/>
          </a:xfrm>
          <a:prstGeom prst="rect">
            <a:avLst/>
          </a:prstGeom>
        </p:spPr>
      </p:pic>
      <p:sp>
        <p:nvSpPr>
          <p:cNvPr id="22" name="AutoShape 21"/>
          <p:cNvSpPr/>
          <p:nvPr/>
        </p:nvSpPr>
        <p:spPr>
          <a:xfrm>
            <a:off x="3860800" y="44958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PWM (脉冲宽度调制)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 rot="5388540">
            <a:off x="4191000" y="3549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3"/>
          <p:cNvSpPr/>
          <p:nvPr/>
        </p:nvSpPr>
        <p:spPr>
          <a:xfrm>
            <a:off x="6604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特殊功能接口</a:t>
            </a:r>
            <a:endParaRPr lang="en-US" sz="110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26" name="AutoShape 25"/>
          <p:cNvSpPr/>
          <p:nvPr/>
        </p:nvSpPr>
        <p:spPr>
          <a:xfrm>
            <a:off x="7112000" y="2286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USB OTG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6"/>
          <p:cNvSpPr/>
          <p:nvPr/>
        </p:nvSpPr>
        <p:spPr>
          <a:xfrm>
            <a:off x="7112000" y="26670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支持设备与主机模式，扩展存储与外设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302000"/>
            <a:ext cx="304800" cy="304800"/>
          </a:xfrm>
          <a:prstGeom prst="rect">
            <a:avLst/>
          </a:prstGeom>
        </p:spPr>
      </p:pic>
      <p:sp>
        <p:nvSpPr>
          <p:cNvPr id="29" name="AutoShape 28"/>
          <p:cNvSpPr/>
          <p:nvPr/>
        </p:nvSpPr>
        <p:spPr>
          <a:xfrm>
            <a:off x="7112000" y="3302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触摸屏控制器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29"/>
          <p:cNvSpPr/>
          <p:nvPr/>
        </p:nvSpPr>
        <p:spPr>
          <a:xfrm>
            <a:off x="7112000" y="36830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直接驱动电容式触摸屏，简化人机交互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4318000"/>
            <a:ext cx="304800" cy="304800"/>
          </a:xfrm>
          <a:prstGeom prst="rect">
            <a:avLst/>
          </a:prstGeom>
        </p:spPr>
      </p:pic>
      <p:sp>
        <p:nvSpPr>
          <p:cNvPr id="32" name="AutoShape 31"/>
          <p:cNvSpPr/>
          <p:nvPr/>
        </p:nvSpPr>
        <p:spPr>
          <a:xfrm>
            <a:off x="7112000" y="4318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摄像头接口 (CSI)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2"/>
          <p:cNvSpPr/>
          <p:nvPr/>
        </p:nvSpPr>
        <p:spPr>
          <a:xfrm>
            <a:off x="7112000" y="4699000"/>
            <a:ext cx="444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连接摄像头模块，轻松实现图像采集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5334000"/>
            <a:ext cx="304800" cy="304800"/>
          </a:xfrm>
          <a:prstGeom prst="rect">
            <a:avLst/>
          </a:prstGeom>
        </p:spPr>
      </p:pic>
      <p:sp>
        <p:nvSpPr>
          <p:cNvPr id="35" name="AutoShape 34"/>
          <p:cNvSpPr/>
          <p:nvPr/>
        </p:nvSpPr>
        <p:spPr>
          <a:xfrm>
            <a:off x="7112000" y="5334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LCD 接口 (DSI)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2" name="图片 41" descr="使用工具生成图片 (7)"/>
          <p:cNvPicPr>
            <a:picLocks noChangeAspect="1"/>
          </p:cNvPicPr>
          <p:nvPr/>
        </p:nvPicPr>
        <p:blipFill>
          <a:blip r:embed="rId15"/>
          <a:srcRect l="10453" t="26916" r="9233" b="19599"/>
          <a:stretch>
            <a:fillRect/>
          </a:stretch>
        </p:blipFill>
        <p:spPr>
          <a:xfrm>
            <a:off x="9458960" y="10033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基础语法与编程 - C语言基础</a:t>
            </a:r>
            <a:endParaRPr lang="en-US" sz="3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676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变量与数据类型</a:t>
            </a:r>
            <a:endParaRPr lang="en-US" sz="2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270000" y="2159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基本类型: int, float, char, bool</a:t>
            </a:r>
            <a:endParaRPr lang="en-US" sz="1100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常量定义: #define, const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17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200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运算符与表达式</a:t>
            </a:r>
            <a:endParaRPr lang="en-US" sz="2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270000" y="3683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算术、关系、逻辑运算符</a:t>
            </a:r>
            <a:endParaRPr lang="en-US" sz="1100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复合赋值与自增自减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83629">
            <a:off x="4762500" y="29781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651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1676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控制结构</a:t>
            </a:r>
            <a:endParaRPr lang="en-US" sz="2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112000" y="2159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条件语句: if-else, switch-case</a:t>
            </a:r>
            <a:endParaRPr lang="en-US" sz="1100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循环语句: for, while, do-while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175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2004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</a:t>
            </a:r>
            <a:endParaRPr lang="en-US" sz="2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112000" y="3683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函数定义、声明与调用</a:t>
            </a:r>
            <a:endParaRPr lang="en-US" sz="1100">
              <a:solidFill>
                <a:schemeClr val="tx1"/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参数传递与返回值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4092">
            <a:off x="762004" y="469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4953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143000" y="49784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掌握C语言核心概念是进行ESP32-S3开发的基础，为后续硬件编程打下坚实基础。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2" name="图片 41" descr="使用工具生成图片 (7)"/>
          <p:cNvPicPr>
            <a:picLocks noChangeAspect="1"/>
          </p:cNvPicPr>
          <p:nvPr/>
        </p:nvPicPr>
        <p:blipFill>
          <a:blip r:embed="rId11"/>
          <a:srcRect l="10453" t="26916" r="9233" b="19599"/>
          <a:stretch>
            <a:fillRect/>
          </a:stretch>
        </p:blipFill>
        <p:spPr>
          <a:xfrm>
            <a:off x="9458960" y="100330"/>
            <a:ext cx="243903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图片 41" descr="使用工具生成图片 (7)"/>
          <p:cNvPicPr>
            <a:picLocks noChangeAspect="1"/>
          </p:cNvPicPr>
          <p:nvPr/>
        </p:nvPicPr>
        <p:blipFill>
          <a:blip r:embed="rId1"/>
          <a:srcRect l="10453" t="26916" r="9233" b="19599"/>
          <a:stretch>
            <a:fillRect/>
          </a:stretch>
        </p:blipFill>
        <p:spPr>
          <a:xfrm>
            <a:off x="9458960" y="100330"/>
            <a:ext cx="2439035" cy="1624330"/>
          </a:xfrm>
          <a:prstGeom prst="rect">
            <a:avLst/>
          </a:prstGeom>
        </p:spPr>
      </p:pic>
      <p:sp>
        <p:nvSpPr>
          <p:cNvPr id="2" name="内容占位符 1"/>
          <p:cNvSpPr/>
          <p:nvPr>
            <p:ph idx="1"/>
          </p:nvPr>
        </p:nvSpPr>
        <p:spPr>
          <a:xfrm>
            <a:off x="645160" y="2028825"/>
            <a:ext cx="10515600" cy="4351338"/>
          </a:xfrm>
        </p:spPr>
        <p:txBody>
          <a:bodyPr/>
          <a:p>
            <a:r>
              <a:rPr lang="zh-CN" altLang="en-US">
                <a:sym typeface="+mn-ea"/>
              </a:rPr>
              <a:t>新手友好</a:t>
            </a:r>
            <a:endParaRPr lang="zh-CN" altLang="en-US"/>
          </a:p>
          <a:p>
            <a:r>
              <a:rPr lang="zh-CN" altLang="en-US"/>
              <a:t>本教程开发环境基于</a:t>
            </a:r>
            <a:r>
              <a:rPr lang="en-US" altLang="zh-CN"/>
              <a:t>VS Code + ESP-IDF</a:t>
            </a:r>
            <a:r>
              <a:rPr lang="zh-CN" altLang="en-US"/>
              <a:t>进行</a:t>
            </a:r>
            <a:r>
              <a:rPr lang="zh-CN" altLang="en-US"/>
              <a:t>开发</a:t>
            </a:r>
            <a:endParaRPr lang="zh-CN" altLang="en-US"/>
          </a:p>
          <a:p>
            <a:r>
              <a:rPr lang="zh-CN" altLang="en-US">
                <a:sym typeface="+mn-ea"/>
              </a:rPr>
              <a:t>面包板接线</a:t>
            </a:r>
            <a:endParaRPr lang="zh-CN" altLang="en-US"/>
          </a:p>
          <a:p>
            <a:r>
              <a:rPr lang="zh-CN" altLang="en-US"/>
              <a:t>手把手教学如何</a:t>
            </a:r>
            <a:r>
              <a:rPr lang="zh-CN" altLang="en-US"/>
              <a:t>写代码</a:t>
            </a:r>
            <a:endParaRPr lang="zh-CN" altLang="en-US"/>
          </a:p>
          <a:p>
            <a:r>
              <a:rPr lang="zh-CN" altLang="en-US"/>
              <a:t>有文字版教程，会发在</a:t>
            </a:r>
            <a:r>
              <a:rPr lang="en-US" altLang="zh-CN"/>
              <a:t>CSDN</a:t>
            </a:r>
            <a:r>
              <a:rPr lang="zh-CN" altLang="en-US"/>
              <a:t>上，更新比视频快</a:t>
            </a:r>
            <a:endParaRPr lang="zh-CN" altLang="en-US"/>
          </a:p>
          <a:p>
            <a:r>
              <a:rPr lang="zh-CN" altLang="en-US"/>
              <a:t>所有资料均会上传网盘提供</a:t>
            </a:r>
            <a:r>
              <a:rPr lang="zh-CN" altLang="en-US"/>
              <a:t>下载</a:t>
            </a:r>
            <a:endParaRPr lang="zh-CN" altLang="en-US"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</a:t>
            </a:r>
            <a:r>
              <a:rPr lang="zh-CN" altLang="en-US" sz="3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</a:t>
            </a:r>
            <a:endParaRPr lang="zh-CN" altLang="en-US" sz="3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WPS 演示</Application>
  <PresentationFormat>宽屏</PresentationFormat>
  <Paragraphs>143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Noto Sans SC</vt:lpstr>
      <vt:lpstr>Calibri</vt:lpstr>
      <vt:lpstr>微软雅黑</vt:lpstr>
      <vt:lpstr>Arial Unicode MS</vt:lpstr>
      <vt:lpstr>WPS</vt:lpstr>
      <vt:lpstr>ESP32-S3开发教程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郭冠甫</dc:creator>
  <cp:lastModifiedBy>风痕天际</cp:lastModifiedBy>
  <cp:revision>14</cp:revision>
  <dcterms:created xsi:type="dcterms:W3CDTF">2023-08-09T12:44:00Z</dcterms:created>
  <dcterms:modified xsi:type="dcterms:W3CDTF">2026-01-28T07:46:27Z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1BC1EEF578C549EDAD2E06D0E8845319_12</vt:lpwstr>
  </property>
</Properties>
</file>