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4.svg" ContentType="image/svg+xml"/>
  <Override PartName="/ppt/media/image2.webp" ContentType="image/webp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65" r:id="rId4"/>
    <p:sldId id="263" r:id="rId6"/>
    <p:sldId id="259" r:id="rId7"/>
    <p:sldId id="266" r:id="rId8"/>
    <p:sldId id="270" r:id="rId9"/>
    <p:sldId id="271" r:id="rId10"/>
    <p:sldId id="267" r:id="rId11"/>
    <p:sldId id="268" r:id="rId12"/>
    <p:sldId id="262" r:id="rId13"/>
    <p:sldId id="26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webp"/><Relationship Id="rId2" Type="http://schemas.openxmlformats.org/officeDocument/2006/relationships/image" Target="../media/image1.png"/><Relationship Id="rId1" Type="http://schemas.openxmlformats.org/officeDocument/2006/relationships/tags" Target="../tags/tag6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tags" Target="../tags/tag6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6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1.png"/><Relationship Id="rId1" Type="http://schemas.openxmlformats.org/officeDocument/2006/relationships/tags" Target="../tags/tag6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jpe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tags" Target="../tags/tag7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7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tags" Target="../tags/tag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6745" y="1184910"/>
            <a:ext cx="9799200" cy="2570400"/>
          </a:xfrm>
        </p:spPr>
        <p:txBody>
          <a:bodyPr>
            <a:normAutofit/>
          </a:bodyPr>
          <a:p>
            <a:r>
              <a:rPr lang="zh-CN" altLang="en-US"/>
              <a:t>扣子智能体搭建教程</a:t>
            </a:r>
            <a:br>
              <a:rPr lang="zh-CN" altLang="en-US"/>
            </a:br>
            <a:r>
              <a:rPr lang="zh-CN" altLang="en-US"/>
              <a:t>附带</a:t>
            </a:r>
            <a:r>
              <a:rPr lang="en-US" altLang="zh-CN"/>
              <a:t>ESP32-S3</a:t>
            </a:r>
            <a:r>
              <a:rPr lang="zh-CN" altLang="en-US"/>
              <a:t>调用</a:t>
            </a:r>
            <a:r>
              <a:rPr lang="zh-CN" altLang="en-US"/>
              <a:t>实战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6745" y="4331290"/>
            <a:ext cx="9799200" cy="1472400"/>
          </a:xfrm>
        </p:spPr>
        <p:txBody>
          <a:bodyPr/>
          <a:p>
            <a:r>
              <a:rPr lang="zh-CN" altLang="en-US"/>
              <a:t>中北大学</a:t>
            </a:r>
            <a:r>
              <a:rPr lang="en-US" altLang="zh-CN"/>
              <a:t>AI</a:t>
            </a:r>
            <a:r>
              <a:rPr lang="zh-CN" altLang="en-US"/>
              <a:t>融创创新</a:t>
            </a:r>
            <a:r>
              <a:rPr lang="zh-CN" altLang="en-US"/>
              <a:t>实验室</a:t>
            </a:r>
            <a:endParaRPr lang="zh-CN" altLang="en-US"/>
          </a:p>
          <a:p>
            <a:r>
              <a:rPr lang="zh-CN" altLang="en-US"/>
              <a:t>主讲人：</a:t>
            </a:r>
            <a:r>
              <a:rPr lang="en-US" altLang="zh-CN"/>
              <a:t>2306014316 </a:t>
            </a:r>
            <a:r>
              <a:rPr lang="zh-CN" altLang="en-US"/>
              <a:t>郭冠甫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1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566420" y="2240280"/>
            <a:ext cx="5679440" cy="42367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一、智能体</a:t>
            </a:r>
            <a:r>
              <a:rPr lang="zh-CN" altLang="en-US"/>
              <a:t>是什么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2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59380" y="1701800"/>
            <a:ext cx="73653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C00000"/>
                </a:solidFill>
              </a:rPr>
              <a:t>智能体</a:t>
            </a:r>
            <a:r>
              <a:rPr lang="en-US" altLang="zh-CN" sz="2400">
                <a:solidFill>
                  <a:srgbClr val="C00000"/>
                </a:solidFill>
              </a:rPr>
              <a:t> = </a:t>
            </a:r>
            <a:r>
              <a:rPr lang="zh-CN" altLang="en-US" sz="2400">
                <a:solidFill>
                  <a:srgbClr val="C00000"/>
                </a:solidFill>
              </a:rPr>
              <a:t>有目标、会思考、能干活、会用工具的</a:t>
            </a:r>
            <a:r>
              <a:rPr lang="en-US" altLang="zh-CN" sz="2400">
                <a:solidFill>
                  <a:srgbClr val="C00000"/>
                </a:solidFill>
              </a:rPr>
              <a:t> AI</a:t>
            </a:r>
            <a:endParaRPr lang="en-US" altLang="zh-CN" sz="2400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92555" y="5511800"/>
            <a:ext cx="38512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普通</a:t>
            </a:r>
            <a:r>
              <a:rPr lang="en-US" altLang="zh-CN" sz="3200" b="1"/>
              <a:t> AI</a:t>
            </a:r>
            <a:r>
              <a:rPr lang="zh-CN" altLang="en-US" sz="3200" b="1"/>
              <a:t>（只会聊天）</a:t>
            </a:r>
            <a:endParaRPr lang="zh-CN" altLang="en-US" sz="3200" b="1"/>
          </a:p>
        </p:txBody>
      </p:sp>
      <p:sp>
        <p:nvSpPr>
          <p:cNvPr id="7" name="文本框 6"/>
          <p:cNvSpPr txBox="1"/>
          <p:nvPr/>
        </p:nvSpPr>
        <p:spPr>
          <a:xfrm>
            <a:off x="541020" y="3256280"/>
            <a:ext cx="5554980" cy="1853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你问</a:t>
            </a:r>
            <a:r>
              <a:rPr lang="en-US" altLang="zh-CN" sz="2400"/>
              <a:t> </a:t>
            </a:r>
            <a:r>
              <a:rPr lang="en-US" altLang="en-US" sz="2400"/>
              <a:t>→</a:t>
            </a:r>
            <a:r>
              <a:rPr lang="en-US" altLang="zh-CN" sz="2400"/>
              <a:t> </a:t>
            </a:r>
            <a:r>
              <a:rPr lang="zh-CN" altLang="en-US" sz="2400"/>
              <a:t>它答</a:t>
            </a:r>
            <a:endParaRPr lang="zh-CN" altLang="en-US" sz="2400"/>
          </a:p>
          <a:p>
            <a:r>
              <a:rPr lang="zh-CN" altLang="en-US" sz="2400"/>
              <a:t>只输出文字</a:t>
            </a:r>
            <a:r>
              <a:rPr lang="en-US" altLang="zh-CN" sz="2400"/>
              <a:t> / </a:t>
            </a:r>
            <a:r>
              <a:rPr lang="zh-CN" altLang="en-US" sz="2400"/>
              <a:t>内容，不会行动，不会做任务。</a:t>
            </a:r>
            <a:endParaRPr lang="zh-CN" altLang="en-US" sz="2400"/>
          </a:p>
          <a:p>
            <a:r>
              <a:rPr lang="zh-CN" altLang="en-US" sz="2400"/>
              <a:t>比如：问</a:t>
            </a:r>
            <a:r>
              <a:rPr lang="en-US" altLang="zh-CN" sz="2400"/>
              <a:t> “</a:t>
            </a:r>
            <a:r>
              <a:rPr lang="zh-CN" altLang="en-US" sz="2400"/>
              <a:t>北京天气</a:t>
            </a:r>
            <a:r>
              <a:rPr lang="en-US" altLang="zh-CN" sz="2400"/>
              <a:t>”</a:t>
            </a:r>
            <a:r>
              <a:rPr lang="zh-CN" altLang="en-US" sz="2400"/>
              <a:t>，它只告诉你天气。</a:t>
            </a: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7018655" y="5511800"/>
            <a:ext cx="38512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C00000"/>
                </a:solidFill>
              </a:rPr>
              <a:t>智能体（会做事）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90970" y="2650490"/>
            <a:ext cx="490601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你给目标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它自己拆解步骤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调用工具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完成任务</a:t>
            </a:r>
            <a:endParaRPr lang="zh-CN" altLang="en-US"/>
          </a:p>
          <a:p>
            <a:r>
              <a:rPr lang="zh-CN" altLang="en-US"/>
              <a:t>比如：</a:t>
            </a:r>
            <a:endParaRPr lang="zh-CN" altLang="en-US"/>
          </a:p>
          <a:p>
            <a:r>
              <a:rPr lang="zh-CN" altLang="en-US"/>
              <a:t>你说帮我规划北京</a:t>
            </a:r>
            <a:r>
              <a:rPr lang="en-US" altLang="zh-CN"/>
              <a:t> 3 </a:t>
            </a:r>
            <a:r>
              <a:rPr lang="zh-CN" altLang="en-US"/>
              <a:t>天旅行，它会：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查天气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查景点开放时间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查交通、地铁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查酒店、美食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自动生成一份可直接用的行程表</a:t>
            </a:r>
            <a:endParaRPr lang="zh-CN" altLang="en-US"/>
          </a:p>
          <a:p>
            <a:r>
              <a:rPr lang="zh-CN" altLang="en-US"/>
              <a:t>它是会干活的</a:t>
            </a:r>
            <a:r>
              <a:rPr lang="en-US" altLang="zh-CN"/>
              <a:t> AI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372860" y="2239645"/>
            <a:ext cx="5679440" cy="42367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二、扣子</a:t>
            </a:r>
            <a:r>
              <a:rPr lang="zh-CN" altLang="en-US"/>
              <a:t>简介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2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762635" y="2809240"/>
            <a:ext cx="4514850" cy="27813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2170" y="2037080"/>
            <a:ext cx="5382895" cy="1483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b="1"/>
              <a:t>扣子</a:t>
            </a:r>
            <a:r>
              <a:rPr lang="en-US" altLang="zh-CN"/>
              <a:t> (Coze) </a:t>
            </a:r>
            <a:r>
              <a:rPr lang="zh-CN" altLang="en-US"/>
              <a:t>是字节跳动推出的新一代低代码</a:t>
            </a:r>
            <a:r>
              <a:rPr lang="en-US" altLang="zh-CN"/>
              <a:t> / </a:t>
            </a:r>
            <a:r>
              <a:rPr lang="zh-CN" altLang="en-US"/>
              <a:t>零代码</a:t>
            </a:r>
            <a:r>
              <a:rPr lang="en-US" altLang="zh-CN"/>
              <a:t> AI </a:t>
            </a:r>
            <a:r>
              <a:rPr lang="zh-CN" altLang="en-US"/>
              <a:t>智能体开发平台，专为快速搭建基于大模型的个性化智能体而设计，无需复杂编程基础即可完成从创建到发布的全流程。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932170" y="3663315"/>
            <a:ext cx="5382895" cy="2415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b="1"/>
              <a:t>官方定位：</a:t>
            </a:r>
            <a:r>
              <a:rPr lang="zh-CN" altLang="en-US"/>
              <a:t>一站式</a:t>
            </a:r>
            <a:r>
              <a:rPr lang="en-US" altLang="zh-CN"/>
              <a:t> AI Agent </a:t>
            </a:r>
            <a:r>
              <a:rPr lang="zh-CN" altLang="en-US"/>
              <a:t>开发平台，让任何人都能轻松构建专属</a:t>
            </a:r>
            <a:r>
              <a:rPr lang="en-US" altLang="zh-CN"/>
              <a:t> AI </a:t>
            </a:r>
            <a:r>
              <a:rPr lang="zh-CN" altLang="en-US"/>
              <a:t>助手</a:t>
            </a:r>
            <a:endParaRPr lang="zh-CN" altLang="en-US"/>
          </a:p>
          <a:p>
            <a:pPr indent="457200"/>
            <a:r>
              <a:rPr lang="zh-CN" altLang="en-US" b="1"/>
              <a:t>技术基础：</a:t>
            </a:r>
            <a:r>
              <a:rPr lang="zh-CN" altLang="en-US"/>
              <a:t>基于字节跳动自研大模型（如豆包</a:t>
            </a:r>
            <a:r>
              <a:rPr lang="en-US" altLang="zh-CN"/>
              <a:t> 1.5 Pro</a:t>
            </a:r>
            <a:r>
              <a:rPr lang="zh-CN" altLang="en-US"/>
              <a:t>），提供强大的自然语言处理与多模态能力扣子空间</a:t>
            </a:r>
            <a:endParaRPr lang="zh-CN" altLang="en-US"/>
          </a:p>
          <a:p>
            <a:pPr indent="457200"/>
            <a:r>
              <a:rPr lang="zh-CN" altLang="en-US" b="1"/>
              <a:t>适用人群：</a:t>
            </a:r>
            <a:r>
              <a:rPr lang="zh-CN" altLang="en-US"/>
              <a:t>个人开发者、企业团队、</a:t>
            </a:r>
            <a:r>
              <a:rPr lang="en-US" altLang="zh-CN"/>
              <a:t>AI </a:t>
            </a:r>
            <a:r>
              <a:rPr lang="zh-CN" altLang="en-US"/>
              <a:t>爱好者，覆盖从新手到专业开发者的全层次需求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三、实战：体验智能体</a:t>
            </a:r>
            <a:r>
              <a:rPr lang="zh-CN" altLang="en-US"/>
              <a:t>开发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2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75" y="2866390"/>
            <a:ext cx="5775960" cy="19304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824345" y="2834005"/>
            <a:ext cx="4064000" cy="2970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/>
              <a:t>添加附件</a:t>
            </a:r>
            <a:endParaRPr lang="zh-CN" altLang="en-US" sz="2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/>
              <a:t>生成配置（联网</a:t>
            </a:r>
            <a:r>
              <a:rPr lang="en-US" altLang="zh-CN" sz="2800"/>
              <a:t>/</a:t>
            </a:r>
            <a:r>
              <a:rPr lang="zh-CN" altLang="en-US" sz="2800"/>
              <a:t>图片）</a:t>
            </a:r>
            <a:endParaRPr lang="zh-CN" altLang="en-US" sz="2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/>
              <a:t>设定技能</a:t>
            </a:r>
            <a:endParaRPr lang="zh-CN" altLang="en-US" sz="2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/>
              <a:t>选择模型</a:t>
            </a:r>
            <a:endParaRPr lang="zh-CN" altLang="en-US" sz="2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/>
              <a:t>语言描述</a:t>
            </a:r>
            <a:endParaRPr lang="zh-CN" altLang="en-US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四、部署</a:t>
            </a:r>
            <a:r>
              <a:rPr lang="zh-CN" altLang="en-US"/>
              <a:t>智能体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2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555" y="1845310"/>
            <a:ext cx="9204325" cy="46901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五、</a:t>
            </a:r>
            <a:r>
              <a:rPr lang="en-US" altLang="zh-CN"/>
              <a:t>API</a:t>
            </a:r>
            <a:r>
              <a:rPr lang="zh-CN" altLang="en-US"/>
              <a:t>介绍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2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58775" y="2417445"/>
            <a:ext cx="3383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1.API</a:t>
            </a:r>
            <a:r>
              <a:rPr lang="zh-CN" altLang="en-US" sz="2400" b="1">
                <a:solidFill>
                  <a:srgbClr val="FF0000"/>
                </a:solidFill>
              </a:rPr>
              <a:t>是什么？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8775" y="3101975"/>
            <a:ext cx="323151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 altLang="zh-CN" b="1"/>
              <a:t>API</a:t>
            </a:r>
            <a:r>
              <a:rPr lang="zh-CN" altLang="en-US"/>
              <a:t>（</a:t>
            </a:r>
            <a:r>
              <a:rPr lang="en-US" altLang="zh-CN"/>
              <a:t>Application Programming Interface</a:t>
            </a:r>
            <a:r>
              <a:rPr lang="zh-CN" altLang="en-US"/>
              <a:t>，应用程序编程接口）</a:t>
            </a:r>
            <a:r>
              <a:rPr lang="en-US" altLang="zh-CN"/>
              <a:t> </a:t>
            </a:r>
            <a:r>
              <a:rPr lang="zh-CN" altLang="en-US"/>
              <a:t>是</a:t>
            </a:r>
            <a:r>
              <a:rPr lang="zh-CN" altLang="en-US" b="1"/>
              <a:t>不同软件系统之间的</a:t>
            </a:r>
            <a:r>
              <a:rPr lang="en-US" altLang="zh-CN" b="1"/>
              <a:t> “</a:t>
            </a:r>
            <a:r>
              <a:rPr lang="zh-CN" altLang="en-US" b="1"/>
              <a:t>通信桥梁</a:t>
            </a:r>
            <a:r>
              <a:rPr lang="en-US" altLang="zh-CN" b="1"/>
              <a:t>”</a:t>
            </a:r>
            <a:r>
              <a:rPr lang="zh-CN" altLang="en-US"/>
              <a:t>，它定义了一套标准的请求和响应规则，让两个系统能在不需要了解对方内部实现细节的情况下，安全、高效地交换数据或调用功能。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742055" y="24174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2.</a:t>
            </a:r>
            <a:r>
              <a:rPr lang="zh-CN" altLang="en-US" sz="2400" b="1">
                <a:solidFill>
                  <a:srgbClr val="FF0000"/>
                </a:solidFill>
              </a:rPr>
              <a:t>核心作用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42055" y="3101975"/>
            <a:ext cx="387223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zh-CN" altLang="en-US" b="1"/>
              <a:t>解耦：</a:t>
            </a:r>
            <a:r>
              <a:rPr lang="zh-CN" altLang="en-US"/>
              <a:t>两个系统不需要互相依赖，只要遵循</a:t>
            </a:r>
            <a:r>
              <a:rPr lang="en-US" altLang="zh-CN"/>
              <a:t> API </a:t>
            </a:r>
            <a:r>
              <a:rPr lang="zh-CN" altLang="en-US"/>
              <a:t>规则就能通信，修改一方代码不影响另一方。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 b="1"/>
              <a:t>复用功能：</a:t>
            </a:r>
            <a:r>
              <a:rPr lang="zh-CN" altLang="en-US"/>
              <a:t>不用重复造轮子，直接调用别人已有的能力（比如天气查询、支付、地图导航）。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 b="1"/>
              <a:t>安全可控：</a:t>
            </a:r>
            <a:r>
              <a:rPr lang="zh-CN" altLang="en-US"/>
              <a:t>只暴露必要的接口，不开放系统内部代码，保障数据安全。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733665" y="24174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3.API </a:t>
            </a:r>
            <a:r>
              <a:rPr lang="zh-CN" altLang="en-US" sz="2400" b="1">
                <a:solidFill>
                  <a:srgbClr val="FF0000"/>
                </a:solidFill>
              </a:rPr>
              <a:t>的基本结构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803515" y="3101975"/>
            <a:ext cx="408432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zh-CN" altLang="en-US" b="1"/>
              <a:t>请求地址（</a:t>
            </a:r>
            <a:r>
              <a:rPr lang="en-US" altLang="zh-CN" b="1"/>
              <a:t>URL</a:t>
            </a:r>
            <a:r>
              <a:rPr lang="zh-CN" altLang="en-US" b="1"/>
              <a:t>）：</a:t>
            </a:r>
            <a:r>
              <a:rPr lang="en-US" altLang="zh-CN"/>
              <a:t>API </a:t>
            </a:r>
            <a:r>
              <a:rPr lang="zh-CN" altLang="en-US"/>
              <a:t>的</a:t>
            </a:r>
            <a:r>
              <a:rPr lang="en-US" altLang="zh-CN"/>
              <a:t> “</a:t>
            </a:r>
            <a:r>
              <a:rPr lang="zh-CN" altLang="en-US"/>
              <a:t>位置</a:t>
            </a:r>
            <a:r>
              <a:rPr lang="en-US" altLang="zh-CN"/>
              <a:t>”.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zh-CN" altLang="en-US" b="1"/>
              <a:t>请求方法：</a:t>
            </a:r>
            <a:r>
              <a:rPr lang="zh-CN" altLang="en-US"/>
              <a:t>最常用的是</a:t>
            </a:r>
            <a:r>
              <a:rPr lang="en-US" altLang="zh-CN"/>
              <a:t> GET</a:t>
            </a:r>
            <a:r>
              <a:rPr lang="zh-CN" altLang="en-US"/>
              <a:t>（获取数据）和</a:t>
            </a:r>
            <a:r>
              <a:rPr lang="en-US" altLang="zh-CN"/>
              <a:t> POST</a:t>
            </a:r>
            <a:r>
              <a:rPr lang="zh-CN" altLang="en-US"/>
              <a:t>（提交数据）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 b="1"/>
              <a:t>请求参数：</a:t>
            </a:r>
            <a:r>
              <a:rPr lang="zh-CN" altLang="en-US"/>
              <a:t>告诉</a:t>
            </a:r>
            <a:r>
              <a:rPr lang="en-US" altLang="zh-CN"/>
              <a:t> API </a:t>
            </a:r>
            <a:r>
              <a:rPr lang="zh-CN" altLang="en-US"/>
              <a:t>你要什么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 b="1"/>
              <a:t>响应数据：</a:t>
            </a:r>
            <a:r>
              <a:rPr lang="en-US" altLang="zh-CN"/>
              <a:t>API </a:t>
            </a:r>
            <a:r>
              <a:rPr lang="zh-CN" altLang="en-US"/>
              <a:t>返回的结果，通常是</a:t>
            </a:r>
            <a:r>
              <a:rPr lang="en-US" altLang="zh-CN"/>
              <a:t> JSON </a:t>
            </a:r>
            <a:r>
              <a:rPr lang="zh-CN" altLang="en-US"/>
              <a:t>格式，方便程序解析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六、</a:t>
            </a:r>
            <a:r>
              <a:rPr lang="en-US" altLang="zh-CN"/>
              <a:t>API Token</a:t>
            </a:r>
            <a:r>
              <a:rPr lang="zh-CN" altLang="en-US"/>
              <a:t>介绍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2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58775" y="2192655"/>
            <a:ext cx="4170045" cy="3743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 sz="2000" b="1"/>
              <a:t>API Token</a:t>
            </a:r>
            <a:r>
              <a:rPr lang="zh-CN" altLang="en-US" sz="2000"/>
              <a:t>（也常叫访问令牌、</a:t>
            </a:r>
            <a:r>
              <a:rPr lang="en-US" altLang="zh-CN" sz="2000"/>
              <a:t>API </a:t>
            </a:r>
            <a:r>
              <a:rPr lang="zh-CN" altLang="en-US" sz="2000"/>
              <a:t>密钥）是调用</a:t>
            </a:r>
            <a:r>
              <a:rPr lang="en-US" altLang="zh-CN" sz="2000"/>
              <a:t> API </a:t>
            </a:r>
            <a:r>
              <a:rPr lang="zh-CN" altLang="en-US" sz="2000"/>
              <a:t>接口时的</a:t>
            </a:r>
            <a:r>
              <a:rPr lang="zh-CN" altLang="en-US" sz="2000" b="1"/>
              <a:t>「数字身份凭证</a:t>
            </a:r>
            <a:r>
              <a:rPr lang="en-US" altLang="zh-CN" sz="2000" b="1"/>
              <a:t> + </a:t>
            </a:r>
            <a:r>
              <a:rPr lang="zh-CN" altLang="en-US" sz="2000" b="1"/>
              <a:t>访问通行证」</a:t>
            </a:r>
            <a:r>
              <a:rPr lang="zh-CN" altLang="en-US" sz="2000"/>
              <a:t>，本质是一串加密的字符串，用来向</a:t>
            </a:r>
            <a:r>
              <a:rPr lang="en-US" altLang="zh-CN" sz="2000"/>
              <a:t> API </a:t>
            </a:r>
            <a:r>
              <a:rPr lang="zh-CN" altLang="en-US" sz="2000"/>
              <a:t>服务端证明「你是谁、你有权限调用这个接口」，是</a:t>
            </a:r>
            <a:r>
              <a:rPr lang="en-US" altLang="zh-CN" sz="2000"/>
              <a:t> API </a:t>
            </a:r>
            <a:r>
              <a:rPr lang="zh-CN" altLang="en-US" sz="2000"/>
              <a:t>安全体系的核心环节，也是做</a:t>
            </a:r>
            <a:r>
              <a:rPr lang="en-US" altLang="zh-CN" sz="2000"/>
              <a:t> ESP32 </a:t>
            </a:r>
            <a:r>
              <a:rPr lang="zh-CN" altLang="en-US" sz="2000"/>
              <a:t>设备对接、扣子智能体</a:t>
            </a:r>
            <a:r>
              <a:rPr lang="en-US" altLang="zh-CN" sz="2000"/>
              <a:t> API </a:t>
            </a:r>
            <a:r>
              <a:rPr lang="zh-CN" altLang="en-US" sz="2000"/>
              <a:t>调用时必须用到的核心配置。</a:t>
            </a:r>
            <a:endParaRPr lang="zh-CN" altLang="en-US" sz="2000"/>
          </a:p>
        </p:txBody>
      </p:sp>
      <p:graphicFrame>
        <p:nvGraphicFramePr>
          <p:cNvPr id="12" name="表格 11"/>
          <p:cNvGraphicFramePr/>
          <p:nvPr>
            <p:custDataLst>
              <p:tags r:id="rId3"/>
            </p:custDataLst>
          </p:nvPr>
        </p:nvGraphicFramePr>
        <p:xfrm>
          <a:off x="4528820" y="2281555"/>
          <a:ext cx="7536815" cy="284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290"/>
                <a:gridCol w="3981450"/>
                <a:gridCol w="275907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概念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核心区别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适用场景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API Token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大多有固定有效期，可动态生成</a:t>
                      </a:r>
                      <a:r>
                        <a:rPr lang="en-US" altLang="zh-CN"/>
                        <a:t> / </a:t>
                      </a:r>
                      <a:r>
                        <a:rPr lang="zh-CN" altLang="en-US"/>
                        <a:t>吊销，权限可精细化配置，主流格式为</a:t>
                      </a:r>
                      <a:r>
                        <a:rPr lang="en-US" altLang="zh-CN"/>
                        <a:t> JWT </a:t>
                      </a:r>
                      <a:r>
                        <a:rPr lang="zh-CN" altLang="en-US"/>
                        <a:t>三段式加密字符串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程序</a:t>
                      </a:r>
                      <a:r>
                        <a:rPr lang="en-US" altLang="zh-CN"/>
                        <a:t> / </a:t>
                      </a:r>
                      <a:r>
                        <a:rPr lang="zh-CN" altLang="en-US"/>
                        <a:t>设备自动化</a:t>
                      </a:r>
                      <a:r>
                        <a:rPr lang="en-US" altLang="zh-CN"/>
                        <a:t> API </a:t>
                      </a:r>
                      <a:r>
                        <a:rPr lang="zh-CN" altLang="en-US"/>
                        <a:t>调用、临时授权、物联网设备、前后端分离项目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账号密码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账号的全权限入口，一旦泄露账号完全失控，长期有效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人工登录系统后台，不适合给程序</a:t>
                      </a:r>
                      <a:r>
                        <a:rPr lang="en-US" altLang="zh-CN"/>
                        <a:t> / </a:t>
                      </a:r>
                      <a:r>
                        <a:rPr lang="zh-CN" altLang="en-US"/>
                        <a:t>设备使用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API Key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广义上是</a:t>
                      </a:r>
                      <a:r>
                        <a:rPr lang="en-US" altLang="zh-CN"/>
                        <a:t> Token </a:t>
                      </a:r>
                      <a:r>
                        <a:rPr lang="zh-CN" altLang="en-US"/>
                        <a:t>的简化形式，大多为长期固定的字符串，权限相对固定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个人开发、低风险场景的接口调用，很多平台会把</a:t>
                      </a:r>
                      <a:r>
                        <a:rPr lang="en-US" altLang="zh-CN"/>
                        <a:t> API Key </a:t>
                      </a:r>
                      <a:r>
                        <a:rPr lang="zh-CN" altLang="en-US"/>
                        <a:t>和</a:t>
                      </a:r>
                      <a:r>
                        <a:rPr lang="en-US" altLang="zh-CN"/>
                        <a:t> Token </a:t>
                      </a:r>
                      <a:r>
                        <a:rPr lang="zh-CN" altLang="en-US"/>
                        <a:t>混用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五、</a:t>
            </a:r>
            <a:r>
              <a:rPr lang="en-US" altLang="zh-CN"/>
              <a:t>ESP32-S3</a:t>
            </a:r>
            <a:r>
              <a:rPr lang="zh-CN" altLang="en-US"/>
              <a:t>简介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2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  <p:sp>
        <p:nvSpPr>
          <p:cNvPr id="6" name="AutoShape 4"/>
          <p:cNvSpPr/>
          <p:nvPr/>
        </p:nvSpPr>
        <p:spPr>
          <a:xfrm>
            <a:off x="762000" y="1524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什么是ESP32-S3？</a:t>
            </a:r>
            <a:endParaRPr lang="en-US" sz="1100"/>
          </a:p>
        </p:txBody>
      </p:sp>
      <p:sp>
        <p:nvSpPr>
          <p:cNvPr id="7" name="AutoShape 5"/>
          <p:cNvSpPr/>
          <p:nvPr/>
        </p:nvSpPr>
        <p:spPr>
          <a:xfrm>
            <a:off x="762000" y="1981200"/>
            <a:ext cx="508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乐鑫（Espressif）推出的高性能、低功耗物联网微控制器，专为物联网、智能家居、可穿戴设备等场景设计。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6"/>
          <p:cNvSpPr/>
          <p:nvPr/>
        </p:nvSpPr>
        <p:spPr>
          <a:xfrm>
            <a:off x="762000" y="28448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</a:t>
            </a:r>
            <a:endParaRPr lang="en-US" sz="1100"/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3403600"/>
            <a:ext cx="304800" cy="304800"/>
          </a:xfrm>
          <a:prstGeom prst="rect">
            <a:avLst/>
          </a:prstGeom>
        </p:spPr>
      </p:pic>
      <p:sp>
        <p:nvSpPr>
          <p:cNvPr id="11" name="AutoShape 8"/>
          <p:cNvSpPr/>
          <p:nvPr/>
        </p:nvSpPr>
        <p:spPr>
          <a:xfrm>
            <a:off x="1219200" y="3403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强大的双核处理器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9"/>
          <p:cNvSpPr/>
          <p:nvPr/>
        </p:nvSpPr>
        <p:spPr>
          <a:xfrm>
            <a:off x="1219200" y="37592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搭载 Xtensa® LX7 双核处理器，性能强劲。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4318000"/>
            <a:ext cx="304800" cy="304800"/>
          </a:xfrm>
          <a:prstGeom prst="rect">
            <a:avLst/>
          </a:prstGeom>
        </p:spPr>
      </p:pic>
      <p:sp>
        <p:nvSpPr>
          <p:cNvPr id="14" name="AutoShape 11"/>
          <p:cNvSpPr/>
          <p:nvPr/>
        </p:nvSpPr>
        <p:spPr>
          <a:xfrm>
            <a:off x="1219200" y="4318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丰富的外设接口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2"/>
          <p:cNvSpPr/>
          <p:nvPr/>
        </p:nvSpPr>
        <p:spPr>
          <a:xfrm>
            <a:off x="1219200" y="46736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支持多种通信协议，连接更多可能。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5232400"/>
            <a:ext cx="304800" cy="304800"/>
          </a:xfrm>
          <a:prstGeom prst="rect">
            <a:avLst/>
          </a:prstGeom>
        </p:spPr>
      </p:pic>
      <p:sp>
        <p:nvSpPr>
          <p:cNvPr id="17" name="AutoShape 14"/>
          <p:cNvSpPr/>
          <p:nvPr/>
        </p:nvSpPr>
        <p:spPr>
          <a:xfrm>
            <a:off x="1219200" y="5232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低功耗设计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5"/>
          <p:cNvSpPr/>
          <p:nvPr/>
        </p:nvSpPr>
        <p:spPr>
          <a:xfrm>
            <a:off x="1219200" y="55880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延长设备续航，满足各类低功耗场景需求。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9" name="Connector 16"/>
          <p:cNvCxnSpPr/>
          <p:nvPr/>
        </p:nvCxnSpPr>
        <p:spPr>
          <a:xfrm rot="5389889">
            <a:off x="3937000" y="3676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0" name="Picture 17"/>
          <p:cNvPicPr>
            <a:picLocks noChangeAspect="1"/>
          </p:cNvPicPr>
          <p:nvPr/>
        </p:nvPicPr>
        <p:blipFill>
          <a:blip r:embed="rId9"/>
          <a:srcRect t="16710" b="16710"/>
          <a:stretch>
            <a:fillRect/>
          </a:stretch>
        </p:blipFill>
        <p:spPr>
          <a:xfrm>
            <a:off x="6604000" y="1905000"/>
            <a:ext cx="4826000" cy="3213100"/>
          </a:xfrm>
          <a:prstGeom prst="roundRect">
            <a:avLst>
              <a:gd name="adj" fmla="val 4743"/>
            </a:avLst>
          </a:prstGeom>
          <a:noFill/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</p:pic>
      <p:sp>
        <p:nvSpPr>
          <p:cNvPr id="21" name="AutoShape 18"/>
          <p:cNvSpPr/>
          <p:nvPr/>
        </p:nvSpPr>
        <p:spPr>
          <a:xfrm>
            <a:off x="6604000" y="5270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ESP32-S3 开发板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五、</a:t>
            </a:r>
            <a:r>
              <a:rPr lang="en-US" altLang="zh-CN"/>
              <a:t>ESP32-S3</a:t>
            </a:r>
            <a:r>
              <a:rPr lang="zh-CN" altLang="en-US"/>
              <a:t>简介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2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  <p:cxnSp>
        <p:nvCxnSpPr>
          <p:cNvPr id="19" name="Connector 16"/>
          <p:cNvCxnSpPr/>
          <p:nvPr/>
        </p:nvCxnSpPr>
        <p:spPr>
          <a:xfrm rot="5389889">
            <a:off x="3937000" y="3676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4"/>
          <p:cNvSpPr/>
          <p:nvPr/>
        </p:nvSpPr>
        <p:spPr>
          <a:xfrm>
            <a:off x="762000" y="1651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Wi-Fi 连接</a:t>
            </a:r>
            <a:endParaRPr lang="en-US" sz="1100"/>
          </a:p>
        </p:txBody>
      </p:sp>
      <p:pic>
        <p:nvPicPr>
          <p:cNvPr id="26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22860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3429000"/>
            <a:ext cx="254000" cy="254000"/>
          </a:xfrm>
          <a:prstGeom prst="rect">
            <a:avLst/>
          </a:prstGeom>
        </p:spPr>
      </p:pic>
      <p:sp>
        <p:nvSpPr>
          <p:cNvPr id="28" name="AutoShape 7"/>
          <p:cNvSpPr/>
          <p:nvPr/>
        </p:nvSpPr>
        <p:spPr>
          <a:xfrm>
            <a:off x="1168400" y="3429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 2.4GHz Wi-Fi (802.11b/g/n)</a:t>
            </a:r>
            <a:endParaRPr lang="en-US" sz="15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4064000"/>
            <a:ext cx="254000" cy="254000"/>
          </a:xfrm>
          <a:prstGeom prst="rect">
            <a:avLst/>
          </a:prstGeom>
        </p:spPr>
      </p:pic>
      <p:sp>
        <p:nvSpPr>
          <p:cNvPr id="30" name="AutoShape 9"/>
          <p:cNvSpPr/>
          <p:nvPr/>
        </p:nvSpPr>
        <p:spPr>
          <a:xfrm>
            <a:off x="1168400" y="4064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 Station 和 SoftAP 模式</a:t>
            </a:r>
            <a:endParaRPr lang="en-US" sz="15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4699000"/>
            <a:ext cx="254000" cy="254000"/>
          </a:xfrm>
          <a:prstGeom prst="rect">
            <a:avLst/>
          </a:prstGeom>
        </p:spPr>
      </p:pic>
      <p:sp>
        <p:nvSpPr>
          <p:cNvPr id="32" name="AutoShape 11"/>
          <p:cNvSpPr/>
          <p:nvPr/>
        </p:nvSpPr>
        <p:spPr>
          <a:xfrm>
            <a:off x="1168400" y="4699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数据传输速率高，覆盖范围广</a:t>
            </a:r>
            <a:endParaRPr lang="en-US" sz="15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3" name="Connector 12"/>
          <p:cNvCxnSpPr/>
          <p:nvPr/>
        </p:nvCxnSpPr>
        <p:spPr>
          <a:xfrm rot="5388145">
            <a:off x="4254500" y="3486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29B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4" name="AutoShape 13"/>
          <p:cNvSpPr/>
          <p:nvPr/>
        </p:nvSpPr>
        <p:spPr>
          <a:xfrm>
            <a:off x="6604000" y="1651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蓝牙连接</a:t>
            </a:r>
            <a:endParaRPr lang="en-US" sz="1100"/>
          </a:p>
        </p:txBody>
      </p:sp>
      <p:pic>
        <p:nvPicPr>
          <p:cNvPr id="35" name="Picture 1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04000" y="22860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3429000"/>
            <a:ext cx="254000" cy="254000"/>
          </a:xfrm>
          <a:prstGeom prst="rect">
            <a:avLst/>
          </a:prstGeom>
        </p:spPr>
      </p:pic>
      <p:sp>
        <p:nvSpPr>
          <p:cNvPr id="37" name="AutoShape 16"/>
          <p:cNvSpPr/>
          <p:nvPr/>
        </p:nvSpPr>
        <p:spPr>
          <a:xfrm>
            <a:off x="7010400" y="3429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 BLE 5.0，通信距离更远</a:t>
            </a:r>
            <a:endParaRPr lang="en-US" sz="15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4064000"/>
            <a:ext cx="254000" cy="254000"/>
          </a:xfrm>
          <a:prstGeom prst="rect">
            <a:avLst/>
          </a:prstGeom>
        </p:spPr>
      </p:pic>
      <p:sp>
        <p:nvSpPr>
          <p:cNvPr id="39" name="AutoShape 18"/>
          <p:cNvSpPr/>
          <p:nvPr/>
        </p:nvSpPr>
        <p:spPr>
          <a:xfrm>
            <a:off x="7010400" y="4064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支持蓝牙 Mesh 网络，实现设备互联</a:t>
            </a:r>
            <a:endParaRPr lang="en-US" sz="15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4699000"/>
            <a:ext cx="254000" cy="254000"/>
          </a:xfrm>
          <a:prstGeom prst="rect">
            <a:avLst/>
          </a:prstGeom>
        </p:spPr>
      </p:pic>
      <p:sp>
        <p:nvSpPr>
          <p:cNvPr id="41" name="AutoShape 20"/>
          <p:cNvSpPr/>
          <p:nvPr/>
        </p:nvSpPr>
        <p:spPr>
          <a:xfrm>
            <a:off x="7010400" y="4699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低功耗设计，适合电池供电设备</a:t>
            </a:r>
            <a:endParaRPr lang="en-US" sz="15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六、如何</a:t>
            </a:r>
            <a:r>
              <a:rPr lang="zh-CN" altLang="en-US"/>
              <a:t>调用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2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8330" y="1454150"/>
            <a:ext cx="10459720" cy="5851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/>
              <a:t>修改内容：</a:t>
            </a:r>
            <a:endParaRPr lang="zh-CN" altLang="en-US" sz="4000"/>
          </a:p>
          <a:p>
            <a:pPr marL="342900" indent="-342900">
              <a:buAutoNum type="arabicPeriod"/>
            </a:pPr>
            <a:r>
              <a:rPr lang="en-US" altLang="zh-CN" sz="4000" b="1"/>
              <a:t>button.c</a:t>
            </a:r>
            <a:r>
              <a:rPr lang="zh-CN" altLang="en-US" sz="4000" b="1"/>
              <a:t>：</a:t>
            </a:r>
            <a:r>
              <a:rPr lang="zh-CN" altLang="en-US" sz="4000"/>
              <a:t>更改按键</a:t>
            </a:r>
            <a:r>
              <a:rPr lang="en-US" altLang="zh-CN" sz="4000"/>
              <a:t>GPIO</a:t>
            </a:r>
            <a:endParaRPr lang="en-US" altLang="zh-CN" sz="4000"/>
          </a:p>
          <a:p>
            <a:pPr marL="342900" indent="-342900">
              <a:buAutoNum type="arabicPeriod"/>
            </a:pPr>
            <a:r>
              <a:rPr lang="en-US" altLang="zh-CN" sz="4000" b="1"/>
              <a:t>coze_api.c</a:t>
            </a:r>
            <a:r>
              <a:rPr lang="zh-CN" altLang="en-US" sz="4000" b="1"/>
              <a:t>：</a:t>
            </a:r>
            <a:r>
              <a:rPr lang="zh-CN" altLang="en-US" sz="4000"/>
              <a:t>更改</a:t>
            </a:r>
            <a:r>
              <a:rPr lang="en-US" altLang="zh-CN" sz="4000"/>
              <a:t>URL</a:t>
            </a:r>
            <a:r>
              <a:rPr lang="zh-CN" altLang="en-US" sz="4000"/>
              <a:t>、对话</a:t>
            </a:r>
            <a:r>
              <a:rPr lang="en-US" altLang="zh-CN" sz="4000"/>
              <a:t>ID</a:t>
            </a:r>
            <a:r>
              <a:rPr lang="zh-CN" altLang="en-US" sz="4000"/>
              <a:t>、项目</a:t>
            </a:r>
            <a:r>
              <a:rPr lang="en-US" altLang="zh-CN" sz="4000"/>
              <a:t>ID</a:t>
            </a:r>
            <a:r>
              <a:rPr lang="zh-CN" altLang="en-US" sz="4000"/>
              <a:t>、</a:t>
            </a:r>
            <a:r>
              <a:rPr lang="en-US" altLang="zh-CN" sz="4000"/>
              <a:t>API Token</a:t>
            </a:r>
            <a:endParaRPr lang="en-US" altLang="zh-CN" sz="4000"/>
          </a:p>
          <a:p>
            <a:pPr marL="342900" indent="-342900">
              <a:buAutoNum type="arabicPeriod"/>
            </a:pPr>
            <a:r>
              <a:rPr lang="en-US" altLang="zh-CN" sz="4000" b="1"/>
              <a:t>dht11.h</a:t>
            </a:r>
            <a:r>
              <a:rPr lang="zh-CN" altLang="en-US" sz="4000" b="1"/>
              <a:t>：</a:t>
            </a:r>
            <a:r>
              <a:rPr lang="zh-CN" altLang="en-US" sz="4000"/>
              <a:t>更改</a:t>
            </a:r>
            <a:r>
              <a:rPr lang="en-US" altLang="zh-CN" sz="4000"/>
              <a:t>DHT11</a:t>
            </a:r>
            <a:r>
              <a:rPr lang="zh-CN" altLang="en-US" sz="4000"/>
              <a:t>数据引脚</a:t>
            </a:r>
            <a:endParaRPr lang="zh-CN" altLang="en-US" sz="4000"/>
          </a:p>
          <a:p>
            <a:pPr marL="342900" indent="-342900">
              <a:buAutoNum type="arabicPeriod"/>
            </a:pPr>
            <a:r>
              <a:rPr lang="en-US" altLang="zh-CN" sz="4000" b="1"/>
              <a:t>wifi_conn.h</a:t>
            </a:r>
            <a:r>
              <a:rPr lang="zh-CN" altLang="en-US" sz="4000" b="1"/>
              <a:t>：</a:t>
            </a:r>
            <a:r>
              <a:rPr lang="zh-CN" altLang="en-US" sz="4000"/>
              <a:t>更改</a:t>
            </a:r>
            <a:r>
              <a:rPr lang="en-US" altLang="zh-CN" sz="4000"/>
              <a:t>Wifi</a:t>
            </a:r>
            <a:r>
              <a:rPr lang="zh-CN" altLang="en-US" sz="4000"/>
              <a:t>名称和密码</a:t>
            </a:r>
            <a:endParaRPr lang="zh-CN" altLang="en-US" sz="4000"/>
          </a:p>
          <a:p>
            <a:pPr marL="342900" indent="-342900">
              <a:buAutoNum type="arabicPeriod"/>
            </a:pPr>
            <a:r>
              <a:rPr lang="zh-CN" altLang="en-US" sz="4000"/>
              <a:t>若为手机热点，请确保频段切换为</a:t>
            </a:r>
            <a:r>
              <a:rPr lang="en-US" altLang="zh-CN" sz="4000"/>
              <a:t>2.4G</a:t>
            </a:r>
            <a:r>
              <a:rPr lang="en-US" altLang="zh-CN" sz="4000"/>
              <a:t>Hz</a:t>
            </a:r>
            <a:endParaRPr lang="en-US" altLang="zh-CN" sz="4000"/>
          </a:p>
          <a:p>
            <a:pPr marL="342900" indent="-342900">
              <a:buAutoNum type="arabicPeriod"/>
            </a:pPr>
            <a:r>
              <a:rPr lang="zh-CN" altLang="en-US" sz="4000"/>
              <a:t>若想测试</a:t>
            </a:r>
            <a:r>
              <a:rPr lang="en-US" altLang="zh-CN" sz="4000"/>
              <a:t>API</a:t>
            </a:r>
            <a:r>
              <a:rPr lang="zh-CN" altLang="en-US" sz="4000"/>
              <a:t>是否可用，可以使用</a:t>
            </a:r>
            <a:r>
              <a:rPr lang="en-US" altLang="zh-CN" sz="4000"/>
              <a:t>test.py</a:t>
            </a:r>
            <a:endParaRPr lang="en-US" altLang="zh-CN" sz="4000"/>
          </a:p>
          <a:p>
            <a:pPr indent="0">
              <a:buNone/>
            </a:pPr>
            <a:endParaRPr lang="zh-CN" altLang="en-US" sz="4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七、广告</a:t>
            </a:r>
            <a:r>
              <a:rPr lang="zh-CN" altLang="en-US"/>
              <a:t>时间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2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" y="2346960"/>
            <a:ext cx="5213350" cy="26568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205" y="2346960"/>
            <a:ext cx="5333365" cy="27178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13740" y="5381625"/>
            <a:ext cx="48482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G-Star</a:t>
            </a:r>
            <a:r>
              <a:rPr lang="zh-CN" altLang="en-US"/>
              <a:t>开源孵化项目：</a:t>
            </a:r>
            <a:r>
              <a:rPr lang="en-US" altLang="zh-CN"/>
              <a:t>ESP32-S3</a:t>
            </a:r>
            <a:r>
              <a:rPr lang="zh-CN" altLang="en-US"/>
              <a:t>教学</a:t>
            </a:r>
            <a:r>
              <a:rPr lang="zh-CN" altLang="en-US"/>
              <a:t>资产</a:t>
            </a:r>
            <a:endParaRPr lang="zh-CN" altLang="en-US"/>
          </a:p>
          <a:p>
            <a:r>
              <a:rPr lang="zh-CN" altLang="en-US"/>
              <a:t>连接：</a:t>
            </a:r>
            <a:r>
              <a:rPr lang="en-US" altLang="zh-CN"/>
              <a:t>https://gitcode.com/NUCAILab/ESP32-S3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6149975" y="5381625"/>
            <a:ext cx="53327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bilibili</a:t>
            </a:r>
            <a:r>
              <a:rPr lang="zh-CN" altLang="en-US"/>
              <a:t>视频主页：</a:t>
            </a:r>
            <a:r>
              <a:rPr lang="en-US" altLang="zh-CN"/>
              <a:t>AI</a:t>
            </a:r>
            <a:r>
              <a:rPr lang="zh-CN" altLang="en-US"/>
              <a:t>融创创新</a:t>
            </a:r>
            <a:r>
              <a:rPr lang="zh-CN" altLang="en-US"/>
              <a:t>实验室</a:t>
            </a:r>
            <a:endParaRPr lang="zh-CN" altLang="en-US"/>
          </a:p>
          <a:p>
            <a:r>
              <a:rPr lang="zh-CN" altLang="en-US"/>
              <a:t>连接：</a:t>
            </a:r>
            <a:r>
              <a:rPr lang="en-US" altLang="zh-CN"/>
              <a:t>https://space.bilibili.com/1201460532?spm_id_from=333.337.0.0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TABLE_ENDDRAG_ORIGIN_RECT" val="554*225"/>
  <p:tag name="TABLE_ENDDRAG_RECT" val="376*195*554*225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1915</Words>
  <Application>WPS 演示</Application>
  <PresentationFormat>宽屏</PresentationFormat>
  <Paragraphs>151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Noto Sans SC</vt:lpstr>
      <vt:lpstr>WPS</vt:lpstr>
      <vt:lpstr>扣子智能体搭建教程 附带ESP32-S3调用实战</vt:lpstr>
      <vt:lpstr>二、扣子编程界面介绍</vt:lpstr>
      <vt:lpstr>一、扣子简介</vt:lpstr>
      <vt:lpstr>二、GPIO概述</vt:lpstr>
      <vt:lpstr>二、新建一个工程</vt:lpstr>
      <vt:lpstr>四、部署智能体</vt:lpstr>
      <vt:lpstr>五、API介绍</vt:lpstr>
      <vt:lpstr>二、新建一个工程</vt:lpstr>
      <vt:lpstr>五、ESP32-S3简介</vt:lpstr>
      <vt:lpstr>二、新建一个工程</vt:lpstr>
      <vt:lpstr>三、编译烧录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风痕天际</cp:lastModifiedBy>
  <cp:revision>166</cp:revision>
  <dcterms:created xsi:type="dcterms:W3CDTF">2019-06-19T02:08:00Z</dcterms:created>
  <dcterms:modified xsi:type="dcterms:W3CDTF">2026-03-10T08:52:10Z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10425286337E45C581C4DBD2199D0B6E_11</vt:lpwstr>
  </property>
</Properties>
</file>